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>
          <a:xfrm>
            <a:off x="685800" y="6858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2B1B20"/>
                </a:solidFill>
                <a:latin typeface="Segoe UI"/>
              </a:rPr>
              <a:t>Introduce the project title and team. State the value proposition: a localized, offline-first meal planner for Filipinos with PCOS using optimization. Remind panel this is decision-support, not treatment.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>
          <a:xfrm>
            <a:off x="685800" y="6858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2B1B20"/>
                </a:solidFill>
                <a:latin typeface="Segoe UI"/>
              </a:rPr>
              <a:t>Briefly explain PCOS management relies on diet and lifestyle. Highlight Filipino diet patterns and the pain points in current apps: lack of personalization, pantry awareness, and offline access. Set up why PCOSina is needed.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>
          <a:xfrm>
            <a:off x="685800" y="6858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2B1B20"/>
                </a:solidFill>
                <a:latin typeface="Segoe UI"/>
              </a:rPr>
              <a:t>Connect theory to design: optimization theory and MILP formalize meal selection. Offline-first and modular design ensure usability. Mention rule-based AI for explainable filtering. Walk through IPO: inputs, process, outputs, evaluation loop.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>
          <a:xfrm>
            <a:off x="685800" y="6858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2B1B20"/>
                </a:solidFill>
                <a:latin typeface="Segoe UI"/>
              </a:rPr>
              <a:t>Summarize the problem: culturally aligned PCOS meal planning is missing, tools ignore real constraints, and connectivity limits access. These gaps drive our research questions and system design.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>
          <a:xfrm>
            <a:off x="685800" y="6858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2B1B20"/>
                </a:solidFill>
                <a:latin typeface="Segoe UI"/>
              </a:rPr>
              <a:t>State the general objective, then the specific objectives: two-stage MILP algorithm, personalization, pantry integration, offline-first architecture, and evaluation using quality metrics.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>
          <a:xfrm>
            <a:off x="685800" y="6858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2B1B20"/>
                </a:solidFill>
                <a:latin typeface="Segoe UI"/>
              </a:rPr>
              <a:t>Clarify scope: Filipino recipes, 7-day plans, decision support only. Not a medical device. Emphasize significance for users, dietitian validators, and researchers.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>
          <a:xfrm>
            <a:off x="685800" y="6858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2B1B20"/>
                </a:solidFill>
                <a:latin typeface="Segoe UI"/>
              </a:rPr>
              <a:t>Synthesize RRL/RRS: literature supports personalized, structured nutrition; localization and offline access are weak; existing tools are generic and lack constraints. Optimization is a suitable method to address feasibility and personalization.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>
          <a:xfrm>
            <a:off x="685800" y="6858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2B1B20"/>
                </a:solidFill>
                <a:latin typeface="Segoe UI"/>
              </a:rPr>
              <a:t>Explain methodology and architecture: developmental and descriptive, built with hybrid Agile-Iterative Scrum. Architecture includes mobile app, local storage, optimization module, and recipe data. Flow from onboarding to plan, grocery, tracking. Cue demo: login, profile, generate plan.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>
          <a:xfrm>
            <a:off x="685800" y="6858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2B1B20"/>
                </a:solidFill>
                <a:latin typeface="Segoe UI"/>
              </a:rPr>
              <a:t>Explain the two-stage algorithm: filtering removes infeasible recipes using preferences and pantry; MILP selects the weekly plan optimizing nutrition, variety, budget, and pantry use. Show simplified objective and constraints. Cue demo: week navigation.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>
          <a:xfrm>
            <a:off x="685800" y="6858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2B1B20"/>
                </a:solidFill>
                <a:latin typeface="Segoe UI"/>
              </a:rPr>
              <a:t>Describe data and constraints: local recipe and nutrition database for offline use, preprocessing for ingredients/pantry, constraints for diet rules, budget, variety, macros. Mention limitations: dataset size and nutrition data quality. Cue demo: recipe details, add to grocery.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>
          <a:xfrm>
            <a:off x="685800" y="6858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2B1B20"/>
                </a:solidFill>
                <a:latin typeface="Segoe UI"/>
              </a:rPr>
              <a:t>Evaluation approach: ISO/IEC 25010 criteria (functional suitability, usability, reliability, performance efficiency). Respondents are PCOS users and interested participants via purposive sampling. Use surveys, user testing, and dietitian consultation. Stats: frequency, percentage, weighted mean. Reliability via Cronbach's alpha. Accuracy testing with AE/PE. Cue demo: grocery consolidation.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>
          <a:xfrm>
            <a:off x="685800" y="6858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2B1B20"/>
                </a:solidFill>
                <a:latin typeface="Segoe UI"/>
              </a:rPr>
              <a:t>Present key findings placeholders since Chapter 4 results are not provided. Note where to insert mean scores, top criterion, performance times, and satisfaction results. Cue demo: progress tracking.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>
          <a:xfrm>
            <a:off x="685800" y="6858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2B1B20"/>
                </a:solidFill>
                <a:latin typeface="Segoe UI"/>
              </a:rPr>
              <a:t>Close with what we built, why it matters, and next steps. Reiterate decision-support framing. Invite questions.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FC6B7D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4400" b="1">
                <a:solidFill>
                  <a:srgbClr val="2B1B20"/>
                </a:solidFill>
                <a:latin typeface="Segoe UI"/>
              </a:rPr>
              <a:t>PCOSina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200">
                <a:solidFill>
                  <a:srgbClr val="8C3A45"/>
                </a:solidFill>
                <a:latin typeface="Segoe UI"/>
              </a:rPr>
              <a:t>Offline-first MILP meal planning for Filipinos with PCOS</a:t>
            </a:r>
          </a:p>
        </p:txBody>
      </p:sp>
      <p:sp>
        <p:nvSpPr>
          <p:cNvPr id="5" name="Meta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600">
                <a:solidFill>
                  <a:srgbClr val="7B6C71"/>
                </a:solidFill>
                <a:latin typeface="Segoe UI"/>
              </a:rPr>
              <a:t>Proponents: [INSERT NAMES] | Adviser: [INSERT NAME]</a:t>
            </a:r>
          </a:p>
          <a:p>
            <a:r>
              <a:rPr lang="en-US" sz="1600">
                <a:solidFill>
                  <a:srgbClr val="7B6C71"/>
                </a:solidFill>
                <a:latin typeface="Segoe UI"/>
              </a:rPr>
              <a:t>[INSERT SCHOOL] | [INSERT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FC6B7D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200" b="1">
                <a:solidFill>
                  <a:srgbClr val="2B1B20"/>
                </a:solidFill>
                <a:latin typeface="Segoe UI"/>
              </a:rPr>
              <a:t>Background and Motivation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188720"/>
            <a:ext cx="1069848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PCOS requires sustained diet and lifestyle management.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Filipino diet is rice-heavy and low in fiber.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Most apps lack personalization and pantry awareness.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Offline access is limited for many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FC6B7D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2B1B20"/>
                </a:solidFill>
                <a:latin typeface="Segoe UI"/>
              </a:rPr>
              <a:t>Theoretical and Conceptual Framework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188720"/>
            <a:ext cx="1069848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Optimization theory models meals as constrained scheduling.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MILP formalizes recipe selection and nutrition targets.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Offline-first, modular, rule-based design enables usability.</a:t>
            </a:r>
          </a:p>
        </p:txBody>
      </p:sp>
      <p:sp>
        <p:nvSpPr>
          <p:cNvPr id="5" name="IPO_Input"/>
          <p:cNvSpPr/>
          <p:nvPr/>
        </p:nvSpPr>
        <p:spPr>
          <a:xfrm>
            <a:off x="6949440" y="1828800"/>
            <a:ext cx="2011680" cy="822960"/>
          </a:xfrm>
          <a:prstGeom prst="rect">
            <a:avLst/>
          </a:prstGeom>
          <a:solidFill>
            <a:srgbClr val="FFE4E8"/>
          </a:solidFill>
          <a:ln w="12700">
            <a:solidFill>
              <a:srgbClr val="FFB4BC"/>
            </a:solidFill>
          </a:ln>
        </p:spPr>
        <p:txBody>
          <a:bodyPr wrap="square" anchor="ctr"/>
          <a:lstStyle/>
          <a:p>
            <a:r>
              <a:rPr lang="en-US" sz="1600" b="1">
                <a:solidFill>
                  <a:srgbClr val="2B1B20"/>
                </a:solidFill>
                <a:latin typeface="Segoe UI"/>
              </a:rPr>
              <a:t>Input</a:t>
            </a:r>
          </a:p>
        </p:txBody>
      </p:sp>
      <p:cxnSp>
        <p:nvCxnSpPr>
          <p:cNvPr id="6" name="Arrow0"/>
          <p:cNvCxnSpPr/>
          <p:nvPr/>
        </p:nvCxnSpPr>
        <p:spPr>
          <a:xfrm>
            <a:off x="8961120" y="2240280.0"/>
            <a:ext cx="182880" cy="1"/>
          </a:xfrm>
          <a:prstGeom prst="line">
            <a:avLst/>
          </a:prstGeom>
          <a:ln w="12700">
            <a:solidFill>
              <a:srgbClr val="7B6C71"/>
            </a:solidFill>
          </a:ln>
        </p:spPr>
      </p:cxnSp>
      <p:sp>
        <p:nvSpPr>
          <p:cNvPr id="7" name="IPO_Process"/>
          <p:cNvSpPr/>
          <p:nvPr/>
        </p:nvSpPr>
        <p:spPr>
          <a:xfrm>
            <a:off x="9144000" y="1828800"/>
            <a:ext cx="2011680" cy="822960"/>
          </a:xfrm>
          <a:prstGeom prst="rect">
            <a:avLst/>
          </a:prstGeom>
          <a:solidFill>
            <a:srgbClr val="FFE4E8"/>
          </a:solidFill>
          <a:ln w="12700">
            <a:solidFill>
              <a:srgbClr val="FFB4BC"/>
            </a:solidFill>
          </a:ln>
        </p:spPr>
        <p:txBody>
          <a:bodyPr wrap="square" anchor="ctr"/>
          <a:lstStyle/>
          <a:p>
            <a:r>
              <a:rPr lang="en-US" sz="1600" b="1">
                <a:solidFill>
                  <a:srgbClr val="2B1B20"/>
                </a:solidFill>
                <a:latin typeface="Segoe UI"/>
              </a:rPr>
              <a:t>Process</a:t>
            </a:r>
          </a:p>
        </p:txBody>
      </p:sp>
      <p:cxnSp>
        <p:nvCxnSpPr>
          <p:cNvPr id="8" name="Arrow1"/>
          <p:cNvCxnSpPr/>
          <p:nvPr/>
        </p:nvCxnSpPr>
        <p:spPr>
          <a:xfrm>
            <a:off x="11155680" y="2240280.0"/>
            <a:ext cx="182880" cy="1"/>
          </a:xfrm>
          <a:prstGeom prst="line">
            <a:avLst/>
          </a:prstGeom>
          <a:ln w="12700">
            <a:solidFill>
              <a:srgbClr val="7B6C71"/>
            </a:solidFill>
          </a:ln>
        </p:spPr>
      </p:cxnSp>
      <p:sp>
        <p:nvSpPr>
          <p:cNvPr id="9" name="IPO_Output"/>
          <p:cNvSpPr/>
          <p:nvPr/>
        </p:nvSpPr>
        <p:spPr>
          <a:xfrm>
            <a:off x="11338560" y="1828800"/>
            <a:ext cx="2011680" cy="822960"/>
          </a:xfrm>
          <a:prstGeom prst="rect">
            <a:avLst/>
          </a:prstGeom>
          <a:solidFill>
            <a:srgbClr val="FFE4E8"/>
          </a:solidFill>
          <a:ln w="12700">
            <a:solidFill>
              <a:srgbClr val="FFB4BC"/>
            </a:solidFill>
          </a:ln>
        </p:spPr>
        <p:txBody>
          <a:bodyPr wrap="square" anchor="ctr"/>
          <a:lstStyle/>
          <a:p>
            <a:r>
              <a:rPr lang="en-US" sz="1600" b="1">
                <a:solidFill>
                  <a:srgbClr val="2B1B20"/>
                </a:solidFill>
                <a:latin typeface="Segoe UI"/>
              </a:rPr>
              <a:t>Output</a:t>
            </a:r>
          </a:p>
        </p:txBody>
      </p:sp>
      <p:sp>
        <p:nvSpPr>
          <p:cNvPr id="10" name="Eval"/>
          <p:cNvSpPr txBox="1"/>
          <p:nvPr/>
        </p:nvSpPr>
        <p:spPr>
          <a:xfrm>
            <a:off x="6949440" y="30175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400" b="1">
                <a:solidFill>
                  <a:srgbClr val="7B6C71"/>
                </a:solidFill>
                <a:latin typeface="Segoe UI"/>
              </a:rPr>
              <a:t>Evaluation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FC6B7D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200" b="1">
                <a:solidFill>
                  <a:srgbClr val="2B1B20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188720"/>
            <a:ext cx="1069848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PCOS-friendly meal planning lacks cultural fit in PH.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Current tools ignore pantry, budget, and constraints.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Connectivity limits access to personalized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FC6B7D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200" b="1">
                <a:solidFill>
                  <a:srgbClr val="2B1B20"/>
                </a:solidFill>
                <a:latin typeface="Segoe UI"/>
              </a:rPr>
              <a:t>Objectives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188720"/>
            <a:ext cx="1069848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General: Build and evaluate PCOSina meal planner.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Design two-stage pantry-constrained MILP algorithm.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Personalize via restrictions, preferences, PCOS goals.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Integrate pantry inventory and grocery reduction.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Offline-first app with evaluated quality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FC6B7D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200" b="1">
                <a:solidFill>
                  <a:srgbClr val="2B1B20"/>
                </a:solidFill>
                <a:latin typeface="Segoe UI"/>
              </a:rPr>
              <a:t>Scope and Significance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188720"/>
            <a:ext cx="1069848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Scope: Filipino recipes; 7-day plans; decision support.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Scope: Offline-first core features, optional sync.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Not a medical treatment or clinical device.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Benefits: users, dietitian validators, researchers.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FC6B7D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200" b="1">
                <a:solidFill>
                  <a:srgbClr val="2B1B20"/>
                </a:solidFill>
                <a:latin typeface="Segoe UI"/>
              </a:rPr>
              <a:t>RRL/RRS Synthesis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188720"/>
            <a:ext cx="1069848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PCOS nutrition needs structured, personalized plans.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Localization gaps for Filipino diets and culture.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Existing apps lack constraints, pantry, offline focus.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Optimization improves feasibility and personalization.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Need accessible, usable, condition-specific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FC6B7D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2B1B20"/>
                </a:solidFill>
                <a:latin typeface="Segoe UI"/>
              </a:rPr>
              <a:t>Methodology and Architecture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188720"/>
            <a:ext cx="1069848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Research design: developmental and descriptive.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Development: hybrid Agile-Iterative (Scrum).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Architecture: app, local DB, optimizer, recipe data.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Flow: onboarding -&gt; plan -&gt; grocery -&gt; tracking.</a:t>
            </a:r>
          </a:p>
        </p:txBody>
      </p:sp>
      <p:sp>
        <p:nvSpPr>
          <p:cNvPr id="5" name="Arch_Mobile App"/>
          <p:cNvSpPr/>
          <p:nvPr/>
        </p:nvSpPr>
        <p:spPr>
          <a:xfrm>
            <a:off x="6949440" y="1828800"/>
            <a:ext cx="1920240" cy="731520"/>
          </a:xfrm>
          <a:prstGeom prst="rect">
            <a:avLst/>
          </a:prstGeom>
          <a:solidFill>
            <a:srgbClr val="FFE4E8"/>
          </a:solidFill>
          <a:ln w="12700">
            <a:solidFill>
              <a:srgbClr val="FFB4BC"/>
            </a:solidFill>
          </a:ln>
        </p:spPr>
        <p:txBody>
          <a:bodyPr wrap="square" anchor="ctr"/>
          <a:lstStyle/>
          <a:p>
            <a:r>
              <a:rPr lang="en-US" sz="1400" b="1">
                <a:solidFill>
                  <a:srgbClr val="2B1B20"/>
                </a:solidFill>
                <a:latin typeface="Segoe UI"/>
              </a:rPr>
              <a:t>Mobile App</a:t>
            </a:r>
          </a:p>
        </p:txBody>
      </p:sp>
      <p:sp>
        <p:nvSpPr>
          <p:cNvPr id="6" name="Arch_Local DB"/>
          <p:cNvSpPr/>
          <p:nvPr/>
        </p:nvSpPr>
        <p:spPr>
          <a:xfrm>
            <a:off x="9052560" y="1828800"/>
            <a:ext cx="1920240" cy="731520"/>
          </a:xfrm>
          <a:prstGeom prst="rect">
            <a:avLst/>
          </a:prstGeom>
          <a:solidFill>
            <a:srgbClr val="FFE4E8"/>
          </a:solidFill>
          <a:ln w="12700">
            <a:solidFill>
              <a:srgbClr val="FFB4BC"/>
            </a:solidFill>
          </a:ln>
        </p:spPr>
        <p:txBody>
          <a:bodyPr wrap="square" anchor="ctr"/>
          <a:lstStyle/>
          <a:p>
            <a:r>
              <a:rPr lang="en-US" sz="1400" b="1">
                <a:solidFill>
                  <a:srgbClr val="2B1B20"/>
                </a:solidFill>
                <a:latin typeface="Segoe UI"/>
              </a:rPr>
              <a:t>Local DB</a:t>
            </a:r>
          </a:p>
        </p:txBody>
      </p:sp>
      <p:sp>
        <p:nvSpPr>
          <p:cNvPr id="7" name="Arch_MILP Optimizer"/>
          <p:cNvSpPr/>
          <p:nvPr/>
        </p:nvSpPr>
        <p:spPr>
          <a:xfrm>
            <a:off x="6949440" y="2926080"/>
            <a:ext cx="1920240" cy="731520"/>
          </a:xfrm>
          <a:prstGeom prst="rect">
            <a:avLst/>
          </a:prstGeom>
          <a:solidFill>
            <a:srgbClr val="FFE4E8"/>
          </a:solidFill>
          <a:ln w="12700">
            <a:solidFill>
              <a:srgbClr val="FFB4BC"/>
            </a:solidFill>
          </a:ln>
        </p:spPr>
        <p:txBody>
          <a:bodyPr wrap="square" anchor="ctr"/>
          <a:lstStyle/>
          <a:p>
            <a:r>
              <a:rPr lang="en-US" sz="1400" b="1">
                <a:solidFill>
                  <a:srgbClr val="2B1B20"/>
                </a:solidFill>
                <a:latin typeface="Segoe UI"/>
              </a:rPr>
              <a:t>MILP Optimizer</a:t>
            </a:r>
          </a:p>
        </p:txBody>
      </p:sp>
      <p:sp>
        <p:nvSpPr>
          <p:cNvPr id="8" name="Arch_Recipe Data"/>
          <p:cNvSpPr/>
          <p:nvPr/>
        </p:nvSpPr>
        <p:spPr>
          <a:xfrm>
            <a:off x="9052560" y="2926080"/>
            <a:ext cx="1920240" cy="731520"/>
          </a:xfrm>
          <a:prstGeom prst="rect">
            <a:avLst/>
          </a:prstGeom>
          <a:solidFill>
            <a:srgbClr val="FFE4E8"/>
          </a:solidFill>
          <a:ln w="12700">
            <a:solidFill>
              <a:srgbClr val="FFB4BC"/>
            </a:solidFill>
          </a:ln>
        </p:spPr>
        <p:txBody>
          <a:bodyPr wrap="square" anchor="ctr"/>
          <a:lstStyle/>
          <a:p>
            <a:r>
              <a:rPr lang="en-US" sz="1400" b="1">
                <a:solidFill>
                  <a:srgbClr val="2B1B20"/>
                </a:solidFill>
                <a:latin typeface="Segoe UI"/>
              </a:rPr>
              <a:t>Recipe Data</a:t>
            </a:r>
          </a:p>
        </p:txBody>
      </p:sp>
      <p:sp>
        <p:nvSpPr>
          <p:cNvPr id="9" name="Screenshot"/>
          <p:cNvSpPr/>
          <p:nvPr/>
        </p:nvSpPr>
        <p:spPr>
          <a:xfrm>
            <a:off x="6858000" y="4206240"/>
            <a:ext cx="4572000" cy="1554480"/>
          </a:xfrm>
          <a:prstGeom prst="rect">
            <a:avLst/>
          </a:prstGeom>
          <a:solidFill>
            <a:srgbClr val="FFF0F3"/>
          </a:solidFill>
          <a:ln w="12700">
            <a:solidFill>
              <a:srgbClr val="FFB4BC"/>
            </a:solidFill>
          </a:ln>
        </p:spPr>
        <p:txBody>
          <a:bodyPr wrap="square" anchor="ctr"/>
          <a:lstStyle/>
          <a:p>
            <a:r>
              <a:rPr lang="en-US" sz="1400" b="1">
                <a:solidFill>
                  <a:srgbClr val="7B6C71"/>
                </a:solidFill>
                <a:latin typeface="Segoe UI"/>
              </a:rPr>
              <a:t>Screenshot: Dashboard</a:t>
            </a:r>
          </a:p>
        </p:txBody>
      </p:sp>
      <p:sp>
        <p:nvSpPr>
          <p:cNvPr id="10" name="Demo"/>
          <p:cNvSpPr/>
          <p:nvPr/>
        </p:nvSpPr>
        <p:spPr>
          <a:xfrm>
            <a:off x="8229600" y="6035040"/>
            <a:ext cx="3657600" cy="548640"/>
          </a:xfrm>
          <a:prstGeom prst="rect">
            <a:avLst/>
          </a:prstGeom>
          <a:solidFill>
            <a:srgbClr val="FC6B7D"/>
          </a:solidFill>
          <a:ln>
            <a:noFill/>
          </a:ln>
        </p:spPr>
        <p:txBody>
          <a:bodyPr wrap="square" anchor="ctr"/>
          <a:lstStyle/>
          <a:p>
            <a:r>
              <a:rPr lang="en-US" sz="1400" b="1">
                <a:solidFill>
                  <a:srgbClr val="FFFFFF"/>
                </a:solidFill>
                <a:latin typeface="Segoe UI"/>
              </a:rPr>
              <a:t>DEMO: Login -&gt; Profile -&gt; Generate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FC6B7D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2B1B20"/>
                </a:solidFill>
                <a:latin typeface="Segoe UI"/>
              </a:rPr>
              <a:t>Algorithm and Development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188720"/>
            <a:ext cx="1069848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Stage 1: preference-aware filtering.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Stage 2: MILP optimizes week plan.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Objective balances nutrition, variety, budget, pantry.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Constraints include calories, macros, repeats, restrictions.</a:t>
            </a:r>
          </a:p>
        </p:txBody>
      </p:sp>
      <p:sp>
        <p:nvSpPr>
          <p:cNvPr id="5" name="Pipe_Inputs"/>
          <p:cNvSpPr/>
          <p:nvPr/>
        </p:nvSpPr>
        <p:spPr>
          <a:xfrm>
            <a:off x="914400" y="4023360"/>
            <a:ext cx="2011680" cy="640080"/>
          </a:xfrm>
          <a:prstGeom prst="rect">
            <a:avLst/>
          </a:prstGeom>
          <a:solidFill>
            <a:srgbClr val="FFE4E8"/>
          </a:solidFill>
          <a:ln w="12700">
            <a:solidFill>
              <a:srgbClr val="FFB4BC"/>
            </a:solidFill>
          </a:ln>
        </p:spPr>
        <p:txBody>
          <a:bodyPr wrap="square" anchor="ctr"/>
          <a:lstStyle/>
          <a:p>
            <a:r>
              <a:rPr lang="en-US" sz="1400" b="1">
                <a:solidFill>
                  <a:srgbClr val="2B1B20"/>
                </a:solidFill>
                <a:latin typeface="Segoe UI"/>
              </a:rPr>
              <a:t>Inputs</a:t>
            </a:r>
          </a:p>
        </p:txBody>
      </p:sp>
      <p:cxnSp>
        <p:nvCxnSpPr>
          <p:cNvPr id="6" name="PipeArrow0"/>
          <p:cNvCxnSpPr/>
          <p:nvPr/>
        </p:nvCxnSpPr>
        <p:spPr>
          <a:xfrm>
            <a:off x="2926080" y="4343400.0"/>
            <a:ext cx="182880" cy="1"/>
          </a:xfrm>
          <a:prstGeom prst="line">
            <a:avLst/>
          </a:prstGeom>
          <a:ln w="12700">
            <a:solidFill>
              <a:srgbClr val="7B6C71"/>
            </a:solidFill>
          </a:ln>
        </p:spPr>
      </p:cxnSp>
      <p:sp>
        <p:nvSpPr>
          <p:cNvPr id="7" name="Pipe_Filter"/>
          <p:cNvSpPr/>
          <p:nvPr/>
        </p:nvSpPr>
        <p:spPr>
          <a:xfrm>
            <a:off x="3200400" y="4023360"/>
            <a:ext cx="2011680" cy="640080"/>
          </a:xfrm>
          <a:prstGeom prst="rect">
            <a:avLst/>
          </a:prstGeom>
          <a:solidFill>
            <a:srgbClr val="FFE4E8"/>
          </a:solidFill>
          <a:ln w="12700">
            <a:solidFill>
              <a:srgbClr val="FFB4BC"/>
            </a:solidFill>
          </a:ln>
        </p:spPr>
        <p:txBody>
          <a:bodyPr wrap="square" anchor="ctr"/>
          <a:lstStyle/>
          <a:p>
            <a:r>
              <a:rPr lang="en-US" sz="1400" b="1">
                <a:solidFill>
                  <a:srgbClr val="2B1B20"/>
                </a:solidFill>
                <a:latin typeface="Segoe UI"/>
              </a:rPr>
              <a:t>Filter</a:t>
            </a:r>
          </a:p>
        </p:txBody>
      </p:sp>
      <p:cxnSp>
        <p:nvCxnSpPr>
          <p:cNvPr id="8" name="PipeArrow1"/>
          <p:cNvCxnSpPr/>
          <p:nvPr/>
        </p:nvCxnSpPr>
        <p:spPr>
          <a:xfrm>
            <a:off x="5212080" y="4343400.0"/>
            <a:ext cx="182880" cy="1"/>
          </a:xfrm>
          <a:prstGeom prst="line">
            <a:avLst/>
          </a:prstGeom>
          <a:ln w="12700">
            <a:solidFill>
              <a:srgbClr val="7B6C71"/>
            </a:solidFill>
          </a:ln>
        </p:spPr>
      </p:cxnSp>
      <p:sp>
        <p:nvSpPr>
          <p:cNvPr id="9" name="Pipe_MILP"/>
          <p:cNvSpPr/>
          <p:nvPr/>
        </p:nvSpPr>
        <p:spPr>
          <a:xfrm>
            <a:off x="5486400" y="4023360"/>
            <a:ext cx="2011680" cy="640080"/>
          </a:xfrm>
          <a:prstGeom prst="rect">
            <a:avLst/>
          </a:prstGeom>
          <a:solidFill>
            <a:srgbClr val="FFE4E8"/>
          </a:solidFill>
          <a:ln w="12700">
            <a:solidFill>
              <a:srgbClr val="FFB4BC"/>
            </a:solidFill>
          </a:ln>
        </p:spPr>
        <p:txBody>
          <a:bodyPr wrap="square" anchor="ctr"/>
          <a:lstStyle/>
          <a:p>
            <a:r>
              <a:rPr lang="en-US" sz="1400" b="1">
                <a:solidFill>
                  <a:srgbClr val="2B1B20"/>
                </a:solidFill>
                <a:latin typeface="Segoe UI"/>
              </a:rPr>
              <a:t>MILP</a:t>
            </a:r>
          </a:p>
        </p:txBody>
      </p:sp>
      <p:cxnSp>
        <p:nvCxnSpPr>
          <p:cNvPr id="10" name="PipeArrow2"/>
          <p:cNvCxnSpPr/>
          <p:nvPr/>
        </p:nvCxnSpPr>
        <p:spPr>
          <a:xfrm>
            <a:off x="7498080" y="4343400.0"/>
            <a:ext cx="182880" cy="1"/>
          </a:xfrm>
          <a:prstGeom prst="line">
            <a:avLst/>
          </a:prstGeom>
          <a:ln w="12700">
            <a:solidFill>
              <a:srgbClr val="7B6C71"/>
            </a:solidFill>
          </a:ln>
        </p:spPr>
      </p:cxnSp>
      <p:sp>
        <p:nvSpPr>
          <p:cNvPr id="11" name="Pipe_Plan"/>
          <p:cNvSpPr/>
          <p:nvPr/>
        </p:nvSpPr>
        <p:spPr>
          <a:xfrm>
            <a:off x="7772400" y="4023360"/>
            <a:ext cx="2011680" cy="640080"/>
          </a:xfrm>
          <a:prstGeom prst="rect">
            <a:avLst/>
          </a:prstGeom>
          <a:solidFill>
            <a:srgbClr val="FFE4E8"/>
          </a:solidFill>
          <a:ln w="12700">
            <a:solidFill>
              <a:srgbClr val="FFB4BC"/>
            </a:solidFill>
          </a:ln>
        </p:spPr>
        <p:txBody>
          <a:bodyPr wrap="square" anchor="ctr"/>
          <a:lstStyle/>
          <a:p>
            <a:r>
              <a:rPr lang="en-US" sz="1400" b="1">
                <a:solidFill>
                  <a:srgbClr val="2B1B20"/>
                </a:solidFill>
                <a:latin typeface="Segoe UI"/>
              </a:rPr>
              <a:t>Plan</a:t>
            </a:r>
          </a:p>
        </p:txBody>
      </p:sp>
      <p:sp>
        <p:nvSpPr>
          <p:cNvPr id="12" name="Formula"/>
          <p:cNvSpPr txBox="1"/>
          <p:nvPr/>
        </p:nvSpPr>
        <p:spPr>
          <a:xfrm>
            <a:off x="914400" y="4846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>
                <a:solidFill>
                  <a:srgbClr val="7B6C71"/>
                </a:solidFill>
                <a:latin typeface="Segoe UI"/>
              </a:rPr>
              <a:t>min  sum(dev_cal) + sum(dev_macro) + penalties - rewards</a:t>
            </a:r>
          </a:p>
          <a:p>
            <a:r>
              <a:rPr lang="en-US" sz="1400">
                <a:solidFill>
                  <a:srgbClr val="7B6C71"/>
                </a:solidFill>
                <a:latin typeface="Segoe UI"/>
              </a:rPr>
              <a:t>s.t. one meal/slot; max repeats; macro bounds</a:t>
            </a:r>
          </a:p>
        </p:txBody>
      </p:sp>
      <p:sp>
        <p:nvSpPr>
          <p:cNvPr id="13" name="Demo"/>
          <p:cNvSpPr/>
          <p:nvPr/>
        </p:nvSpPr>
        <p:spPr>
          <a:xfrm>
            <a:off x="8229600" y="6035040"/>
            <a:ext cx="3657600" cy="548640"/>
          </a:xfrm>
          <a:prstGeom prst="rect">
            <a:avLst/>
          </a:prstGeom>
          <a:solidFill>
            <a:srgbClr val="FC6B7D"/>
          </a:solidFill>
          <a:ln>
            <a:noFill/>
          </a:ln>
        </p:spPr>
        <p:txBody>
          <a:bodyPr wrap="square" anchor="ctr"/>
          <a:lstStyle/>
          <a:p>
            <a:r>
              <a:rPr lang="en-US" sz="1400" b="1">
                <a:solidFill>
                  <a:srgbClr val="FFFFFF"/>
                </a:solidFill>
                <a:latin typeface="Segoe UI"/>
              </a:rPr>
              <a:t>DEMO: Navigate week (Mon-Sun)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FC6B7D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200" b="1">
                <a:solidFill>
                  <a:srgbClr val="2B1B20"/>
                </a:solidFill>
                <a:latin typeface="Segoe UI"/>
              </a:rPr>
              <a:t>Data and Constraints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188720"/>
            <a:ext cx="1069848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Local recipe and nutrition database for offline access.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Preprocess: normalize ingredients and pantry matching.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Constraints: dietary rules, budget, variety, macros.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Limitations: dataset size, nutrition data quality.</a:t>
            </a:r>
          </a:p>
        </p:txBody>
      </p:sp>
      <p:sp>
        <p:nvSpPr>
          <p:cNvPr id="5" name="Screenshot"/>
          <p:cNvSpPr/>
          <p:nvPr/>
        </p:nvSpPr>
        <p:spPr>
          <a:xfrm>
            <a:off x="6858000" y="3657600"/>
            <a:ext cx="4572000" cy="2103120"/>
          </a:xfrm>
          <a:prstGeom prst="rect">
            <a:avLst/>
          </a:prstGeom>
          <a:solidFill>
            <a:srgbClr val="FFF0F3"/>
          </a:solidFill>
          <a:ln w="12700">
            <a:solidFill>
              <a:srgbClr val="FFB4BC"/>
            </a:solidFill>
          </a:ln>
        </p:spPr>
        <p:txBody>
          <a:bodyPr wrap="square" anchor="ctr"/>
          <a:lstStyle/>
          <a:p>
            <a:r>
              <a:rPr lang="en-US" sz="1400" b="1">
                <a:solidFill>
                  <a:srgbClr val="7B6C71"/>
                </a:solidFill>
                <a:latin typeface="Segoe UI"/>
              </a:rPr>
              <a:t>Screenshot: Recipe Details</a:t>
            </a:r>
          </a:p>
        </p:txBody>
      </p:sp>
      <p:sp>
        <p:nvSpPr>
          <p:cNvPr id="6" name="Demo"/>
          <p:cNvSpPr/>
          <p:nvPr/>
        </p:nvSpPr>
        <p:spPr>
          <a:xfrm>
            <a:off x="8229600" y="6035040"/>
            <a:ext cx="3657600" cy="548640"/>
          </a:xfrm>
          <a:prstGeom prst="rect">
            <a:avLst/>
          </a:prstGeom>
          <a:solidFill>
            <a:srgbClr val="FC6B7D"/>
          </a:solidFill>
          <a:ln>
            <a:noFill/>
          </a:ln>
        </p:spPr>
        <p:txBody>
          <a:bodyPr wrap="square" anchor="ctr"/>
          <a:lstStyle/>
          <a:p>
            <a:r>
              <a:rPr lang="en-US" sz="1400" b="1">
                <a:solidFill>
                  <a:srgbClr val="FFFFFF"/>
                </a:solidFill>
                <a:latin typeface="Segoe UI"/>
              </a:rPr>
              <a:t>DEMO: Recipe details -&gt; Add to grocery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FC6B7D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200" b="1">
                <a:solidFill>
                  <a:srgbClr val="2B1B20"/>
                </a:solidFill>
                <a:latin typeface="Segoe UI"/>
              </a:rPr>
              <a:t>Evaluation and Respondents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188720"/>
            <a:ext cx="1069848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Font typeface="Segoe UI"/>
              <a:buChar char="-"/>
            </a:pPr>
            <a:r>
              <a:rPr lang="en-US" sz="1800">
                <a:solidFill>
                  <a:srgbClr val="2B1B20"/>
                </a:solidFill>
                <a:latin typeface="Segoe UI"/>
              </a:rPr>
              <a:t>ISO/IEC 25010: functional, usability, reliability, performance.</a:t>
            </a:r>
          </a:p>
          <a:p>
            <a:pPr marL="342900" indent="-171450">
              <a:buFont typeface="Segoe UI"/>
              <a:buChar char="-"/>
            </a:pPr>
            <a:r>
              <a:rPr lang="en-US" sz="1800">
                <a:solidFill>
                  <a:srgbClr val="2B1B20"/>
                </a:solidFill>
                <a:latin typeface="Segoe UI"/>
              </a:rPr>
              <a:t>Respondents: PCOS users and interested participants.</a:t>
            </a:r>
          </a:p>
          <a:p>
            <a:pPr marL="342900" indent="-171450">
              <a:buFont typeface="Segoe UI"/>
              <a:buChar char="-"/>
            </a:pPr>
            <a:r>
              <a:rPr lang="en-US" sz="1800">
                <a:solidFill>
                  <a:srgbClr val="2B1B20"/>
                </a:solidFill>
                <a:latin typeface="Segoe UI"/>
              </a:rPr>
              <a:t>Sampling: purposive; surveys and user testing.</a:t>
            </a:r>
          </a:p>
          <a:p>
            <a:pPr marL="342900" indent="-171450">
              <a:buFont typeface="Segoe UI"/>
              <a:buChar char="-"/>
            </a:pPr>
            <a:r>
              <a:rPr lang="en-US" sz="1800">
                <a:solidFill>
                  <a:srgbClr val="2B1B20"/>
                </a:solidFill>
                <a:latin typeface="Segoe UI"/>
              </a:rPr>
              <a:t>Stats: frequency, percentage, weighted mean.</a:t>
            </a:r>
          </a:p>
          <a:p>
            <a:pPr marL="342900" indent="-171450">
              <a:buFont typeface="Segoe UI"/>
              <a:buChar char="-"/>
            </a:pPr>
            <a:r>
              <a:rPr lang="en-US" sz="1800">
                <a:solidFill>
                  <a:srgbClr val="2B1B20"/>
                </a:solidFill>
                <a:latin typeface="Segoe UI"/>
              </a:rPr>
              <a:t>Reliability: Cronbach's alpha [INSERT alpha].</a:t>
            </a:r>
          </a:p>
          <a:p>
            <a:pPr marL="342900" indent="-171450">
              <a:buFont typeface="Segoe UI"/>
              <a:buChar char="-"/>
            </a:pPr>
            <a:r>
              <a:rPr lang="en-US" sz="1800">
                <a:solidFill>
                  <a:srgbClr val="2B1B20"/>
                </a:solidFill>
                <a:latin typeface="Segoe UI"/>
              </a:rPr>
              <a:t>Computation accuracy: AE/PE vs manual values.</a:t>
            </a:r>
          </a:p>
        </p:txBody>
      </p:sp>
      <p:sp>
        <p:nvSpPr>
          <p:cNvPr id="5" name="Demo"/>
          <p:cNvSpPr/>
          <p:nvPr/>
        </p:nvSpPr>
        <p:spPr>
          <a:xfrm>
            <a:off x="8229600" y="6035040"/>
            <a:ext cx="3657600" cy="548640"/>
          </a:xfrm>
          <a:prstGeom prst="rect">
            <a:avLst/>
          </a:prstGeom>
          <a:solidFill>
            <a:srgbClr val="FC6B7D"/>
          </a:solidFill>
          <a:ln>
            <a:noFill/>
          </a:ln>
        </p:spPr>
        <p:txBody>
          <a:bodyPr wrap="square" anchor="ctr"/>
          <a:lstStyle/>
          <a:p>
            <a:r>
              <a:rPr lang="en-US" sz="1400" b="1">
                <a:solidFill>
                  <a:srgbClr val="FFFFFF"/>
                </a:solidFill>
                <a:latin typeface="Segoe UI"/>
              </a:rPr>
              <a:t>DEMO: Grocery list consolidation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FC6B7D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2B1B20"/>
                </a:solidFill>
                <a:latin typeface="Segoe UI"/>
              </a:rPr>
              <a:t>Results and Key Findings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188720"/>
            <a:ext cx="1069848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Overall ISO score: [INSERT MEAN].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Top criterion: [INSERT].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Meal plan quality: [INSERT].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Performance: solver time [INSERT].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Users' satisfaction: [INSERT].</a:t>
            </a:r>
          </a:p>
        </p:txBody>
      </p:sp>
      <p:sp>
        <p:nvSpPr>
          <p:cNvPr id="5" name="Screenshot"/>
          <p:cNvSpPr/>
          <p:nvPr/>
        </p:nvSpPr>
        <p:spPr>
          <a:xfrm>
            <a:off x="6858000" y="4206240"/>
            <a:ext cx="4572000" cy="1554480"/>
          </a:xfrm>
          <a:prstGeom prst="rect">
            <a:avLst/>
          </a:prstGeom>
          <a:solidFill>
            <a:srgbClr val="FFF0F3"/>
          </a:solidFill>
          <a:ln w="12700">
            <a:solidFill>
              <a:srgbClr val="FFB4BC"/>
            </a:solidFill>
          </a:ln>
        </p:spPr>
        <p:txBody>
          <a:bodyPr wrap="square" anchor="ctr"/>
          <a:lstStyle/>
          <a:p>
            <a:r>
              <a:rPr lang="en-US" sz="1400" b="1">
                <a:solidFill>
                  <a:srgbClr val="7B6C71"/>
                </a:solidFill>
                <a:latin typeface="Segoe UI"/>
              </a:rPr>
              <a:t>Screenshot: Progress</a:t>
            </a:r>
          </a:p>
        </p:txBody>
      </p:sp>
      <p:sp>
        <p:nvSpPr>
          <p:cNvPr id="6" name="Demo"/>
          <p:cNvSpPr/>
          <p:nvPr/>
        </p:nvSpPr>
        <p:spPr>
          <a:xfrm>
            <a:off x="8229600" y="6035040"/>
            <a:ext cx="3657600" cy="548640"/>
          </a:xfrm>
          <a:prstGeom prst="rect">
            <a:avLst/>
          </a:prstGeom>
          <a:solidFill>
            <a:srgbClr val="FC6B7D"/>
          </a:solidFill>
          <a:ln>
            <a:noFill/>
          </a:ln>
        </p:spPr>
        <p:txBody>
          <a:bodyPr wrap="square" anchor="ctr"/>
          <a:lstStyle/>
          <a:p>
            <a:r>
              <a:rPr lang="en-US" sz="1400" b="1">
                <a:solidFill>
                  <a:srgbClr val="FFFFFF"/>
                </a:solidFill>
                <a:latin typeface="Segoe UI"/>
              </a:rPr>
              <a:t>DEMO: Progress tracking 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FC6B7D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200" b="1">
                <a:solidFill>
                  <a:srgbClr val="2B1B20"/>
                </a:solidFill>
                <a:latin typeface="Segoe UI"/>
              </a:rPr>
              <a:t>Closing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188720"/>
            <a:ext cx="1069848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Built offline-first, localized PCOS meal planner.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MILP plus heuristics balance nutrition and constraints.</a:t>
            </a:r>
          </a:p>
          <a:p>
            <a:pPr marL="342900" indent="-171450">
              <a:buFont typeface="Segoe UI"/>
              <a:buChar char="-"/>
            </a:pPr>
            <a:r>
              <a:rPr lang="en-US" sz="2000">
                <a:solidFill>
                  <a:srgbClr val="2B1B20"/>
                </a:solidFill>
                <a:latin typeface="Segoe UI"/>
              </a:rPr>
              <a:t>Next: expand recipes and long-term evaluation.</a:t>
            </a:r>
          </a:p>
        </p:txBody>
      </p:sp>
      <p:sp>
        <p:nvSpPr>
          <p:cNvPr id="5" name="Demo"/>
          <p:cNvSpPr/>
          <p:nvPr/>
        </p:nvSpPr>
        <p:spPr>
          <a:xfrm>
            <a:off x="8229600" y="6035040"/>
            <a:ext cx="3657600" cy="548640"/>
          </a:xfrm>
          <a:prstGeom prst="rect">
            <a:avLst/>
          </a:prstGeom>
          <a:solidFill>
            <a:srgbClr val="FC6B7D"/>
          </a:solidFill>
          <a:ln>
            <a:noFill/>
          </a:ln>
        </p:spPr>
        <p:txBody>
          <a:bodyPr wrap="square" anchor="ctr"/>
          <a:lstStyle/>
          <a:p>
            <a:r>
              <a:rPr lang="en-US" sz="1400" b="1">
                <a:solidFill>
                  <a:srgbClr val="FFFFFF"/>
                </a:solidFill>
                <a:latin typeface="Segoe UI"/>
              </a:rPr>
              <a:t>DEMO: Wrap-up and questions</a:t>
            </a:r>
          </a:p>
        </p:txBody>
      </p:sp>
    </p:spTree>
  </p:cSld>
  <p:clrMapOvr>
    <a:masterClrMapping/>
  </p:clrMapOvr>
</p:sld>
</file>

<file path=ppt/theme/theme1.xml>
<?xml version="1.0" encoding="UTF-8" standalone="yes"?>
<a:theme xmlns:a="http://schemas.openxmlformats.org/drawingml/2006/main" name="PCOSINA Theme">
  <a:themeElements>
    <a:clrScheme name="PCOSINA">
      <a:dk1><a:srgbClr val="000000"/></a:dk1>
      <a:lt1><a:srgbClr val="FFFFFF"/></a:lt1>
      <a:dk2><a:srgbClr val="1F1F1F"/></a:dk2>
      <a:lt2><a:srgbClr val="F5F5F5"/></a:lt2>
      <a:accent1><a:srgbClr val="FC6B7D"/></a:accent1>
      <a:accent2><a:srgbClr val="8C3A45"/></a:accent2>
      <a:accent3><a:srgbClr val="FFB4BC"/></a:accent3>
      <a:accent4><a:srgbClr val="2E6ACF"/></a:accent4>
      <a:accent5><a:srgbClr val="7F7F7F"/></a:accent5>
      <a:accent6><a:srgbClr val="999999"/></a:accent6>
      <a:hlink><a:srgbClr val="0000FF"/></a:hlink>
      <a:folHlink><a:srgbClr val="800080"/></a:folHlink>
    </a:clrScheme>
    <a:fontScheme name="PCOSINA">
      <a:majorFont>
        <a:latin typeface="Segoe UI"/>
      </a:majorFont>
      <a:minorFont>
        <a:latin typeface="Segoe UI"/>
      </a:minorFont>
    </a:fontScheme>
    <a:fmtScheme name="PCOSINA">
      <a:fillStyleLst>
        <a:solidFill><a:srgbClr val="FFFFFF"/></a:solidFill>
        <a:solidFill><a:srgbClr val="F5F5F5"/></a:solidFill>
        <a:solidFill><a:srgbClr val="EEEEEE"/></a:solidFill>
      </a:fillStyleLst>
      <a:lnStyleLst>
        <a:ln w="9525"><a:solidFill><a:srgbClr val="666666"/></a:solidFill></a:ln>
        <a:ln w="12700"><a:solidFill><a:srgbClr val="666666"/></a:solidFill></a:ln>
        <a:ln w="19050"><a:solidFill><a:srgbClr val="666666"/></a:solidFill></a:ln>
      </a:lnStyleLst>
      <a:effectStyleLst>
        <a:effectStyle><a:effectLst/></a:effectStyle>
        <a:effectStyle><a:effectLst/></a:effectStyle>
        <a:effectStyle><a:effectLst/></a:effectStyle>
      </a:effectStyleLst>
      <a:bgFillStyleLst>
        <a:solidFill><a:srgbClr val="FFFFFF"/></a:solidFill>
        <a:solidFill><a:srgbClr val="F5F5F5"/></a:solidFill>
        <a:solidFill><a:srgbClr val="EEEEEE"/></a:solidFill>
      </a:bgFillStyleLst>
    </a:fmtScheme>
  </a:themeElements>
  <a:objectDefaults/>
  <a:extraClrSchemeLst/>
</a:theme>

</file>

<file path=docProps/app.xml>
<?xml version="1.0" encoding="UTF-8" standalone="yes"?>
<Properties xmlns="http://schemas.openxmlformats.org/officeDocument/2006/extended-properties" xmlns:vt="http://schemas.openxmlformats.org/officeDocument/2006/docPropsVTypes">
  <Application>PCOSINA</Application>
  <PresentationFormat>Widescreen</PresentationFormat>
  <Slides>13</Slides>
  <Notes>1</Notes>
</Properties>

</file>

<file path=docProps/core.xml>
<?xml version="1.0" encoding="UTF-8" standalone="yes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PCOSINA Final Defense</dc:title>
  <dc:creator>PCOSINA Team</dc:creator>
  <cp:lastModifiedBy>PCOSINA Team</cp:lastModifiedBy>
  <dcterms:created xsi:type="dcterms:W3CDTF">2026-02-08T04:43:10Z</dcterms:created>
  <dcterms:modified xsi:type="dcterms:W3CDTF">2026-02-08T04:43:10Z</dcterms:modified>
</cp:coreProperties>

</file>